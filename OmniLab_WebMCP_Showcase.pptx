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32720" cy="4114800"/>
          </a:xfrm>
          <a:prstGeom prst="rect">
            <a:avLst/>
          </a:prstGeom>
          <a:noFill/>
        </p:spPr>
        <p:txBody>
          <a:bodyPr wrap="square">
            <a:spAutoFit/>
          </a:bodyPr>
          <a:lstStyle/>
          <a:p>
            <a:pPr>
              <a:defRPr sz="1100" b="1">
                <a:solidFill>
                  <a:srgbClr val="38BDF8"/>
                </a:solidFill>
              </a:defRPr>
            </a:pPr>
            <a:r>
              <a:t>THE WEBMCP CHALLENGE  •  INTERACTIVE MULTI-MODAL TUTOR</a:t>
            </a:r>
          </a:p>
          <a:p>
            <a:pPr>
              <a:spcBef>
                <a:spcPts val="1400"/>
              </a:spcBef>
              <a:spcAft>
                <a:spcPts val="1400"/>
              </a:spcAft>
              <a:defRPr sz="3800" b="1">
                <a:solidFill>
                  <a:srgbClr val="F8FAFC"/>
                </a:solidFill>
              </a:defRPr>
            </a:pPr>
            <a:r>
              <a:t>OmniLab MCP: 3D Interactive</a:t>
            </a:r>
            <a:br/>
            <a:r>
              <a:t>STEM &amp; Code Learning Studio</a:t>
            </a:r>
          </a:p>
          <a:p>
            <a:pPr>
              <a:spcAft>
                <a:spcPts val="2800"/>
              </a:spcAft>
              <a:defRPr sz="1500">
                <a:solidFill>
                  <a:srgbClr val="94A3B8"/>
                </a:solidFill>
              </a:defRPr>
            </a:pPr>
            <a:r>
              <a:t>Transforming chat threads from passive text into live 3D physics playgrounds, Web Audio synthesizers, and algorithmic voxel simulations with deterministic verification.</a:t>
            </a:r>
          </a:p>
          <a:p>
            <a:pPr>
              <a:defRPr sz="1200" b="1">
                <a:solidFill>
                  <a:srgbClr val="34D399"/>
                </a:solidFill>
              </a:defRPr>
            </a:pPr>
            <a:r>
              <a:t>13 MCP Tools  |  6 Generative UI Widgets  |  Three.js PBR  |  Cannon-es Physics  |  Web Audio API  |  Gemini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000" b="1">
                <a:solidFill>
                  <a:srgbClr val="38BDF8"/>
                </a:solidFill>
              </a:defRPr>
            </a:pPr>
            <a:r>
              <a:t>CHALLENGE &amp; PARADIGM SHIFT</a:t>
            </a:r>
          </a:p>
        </p:txBody>
      </p:sp>
      <p:sp>
        <p:nvSpPr>
          <p:cNvPr id="4" name="TextBox 3"/>
          <p:cNvSpPr txBox="1"/>
          <p:nvPr/>
        </p:nvSpPr>
        <p:spPr>
          <a:xfrm>
            <a:off x="731520" y="777240"/>
            <a:ext cx="10698480" cy="640080"/>
          </a:xfrm>
          <a:prstGeom prst="rect">
            <a:avLst/>
          </a:prstGeom>
          <a:noFill/>
        </p:spPr>
        <p:txBody>
          <a:bodyPr wrap="square">
            <a:spAutoFit/>
          </a:bodyPr>
          <a:lstStyle/>
          <a:p>
            <a:pPr>
              <a:defRPr sz="2400" b="1">
                <a:solidFill>
                  <a:srgbClr val="F8FAFC"/>
                </a:solidFill>
              </a:defRPr>
            </a:pPr>
            <a:r>
              <a:t>Why Conventional AI Assistants Fall Short in STEM &amp; Coding</a:t>
            </a:r>
          </a:p>
        </p:txBody>
      </p:sp>
      <p:sp>
        <p:nvSpPr>
          <p:cNvPr id="5" name="TextBox 4"/>
          <p:cNvSpPr txBox="1"/>
          <p:nvPr/>
        </p:nvSpPr>
        <p:spPr>
          <a:xfrm>
            <a:off x="731520" y="1371600"/>
            <a:ext cx="10698480" cy="457200"/>
          </a:xfrm>
          <a:prstGeom prst="rect">
            <a:avLst/>
          </a:prstGeom>
          <a:noFill/>
        </p:spPr>
        <p:txBody>
          <a:bodyPr wrap="square">
            <a:spAutoFit/>
          </a:bodyPr>
          <a:lstStyle/>
          <a:p>
            <a:pPr>
              <a:defRPr sz="1300">
                <a:solidFill>
                  <a:srgbClr val="94A3B8"/>
                </a:solidFill>
              </a:defRPr>
            </a:pPr>
            <a:r>
              <a:t>Bridging the gap between static text hallucinations and experiential physical understanding.</a:t>
            </a:r>
          </a:p>
        </p:txBody>
      </p:sp>
      <p:sp>
        <p:nvSpPr>
          <p:cNvPr id="6" name="Rounded Rectangle 5"/>
          <p:cNvSpPr/>
          <p:nvPr/>
        </p:nvSpPr>
        <p:spPr>
          <a:xfrm>
            <a:off x="731520" y="2011680"/>
            <a:ext cx="5120640" cy="4114800"/>
          </a:xfrm>
          <a:prstGeom prst="roundRect">
            <a:avLst/>
          </a:prstGeom>
          <a:solidFill>
            <a:srgbClr val="0F172A"/>
          </a:solidFill>
          <a:ln>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tIns="274320" lIns="365760" rIns="365760"/>
          <a:lstStyle/>
          <a:p>
            <a:pPr algn="ctr">
              <a:defRPr sz="1800" b="1">
                <a:solidFill>
                  <a:srgbClr val="F43F5E"/>
                </a:solidFill>
              </a:defRPr>
            </a:pPr>
            <a:r>
              <a:t>❌ Current AI Chat Limitations</a:t>
            </a:r>
          </a:p>
          <a:p>
            <a:pPr>
              <a:spcBef>
                <a:spcPts val="1000"/>
              </a:spcBef>
              <a:defRPr sz="1200">
                <a:solidFill>
                  <a:srgbClr val="94A3B8"/>
                </a:solidFill>
              </a:defRPr>
            </a:pPr>
            <a:r>
              <a:t>• Wall of Static Text: Students glaze over long prose without building spatial or mechanical mental models.</a:t>
            </a:r>
          </a:p>
          <a:p>
            <a:pPr>
              <a:spcBef>
                <a:spcPts val="1000"/>
              </a:spcBef>
              <a:defRPr sz="1200">
                <a:solidFill>
                  <a:srgbClr val="94A3B8"/>
                </a:solidFill>
              </a:defRPr>
            </a:pPr>
            <a:r>
              <a:t>• Hallucinated Grading (Sycophancy): LLMs often tell students their broken code is correct, reinforcing critical misunderstandings.</a:t>
            </a:r>
          </a:p>
          <a:p>
            <a:pPr>
              <a:spcBef>
                <a:spcPts val="1000"/>
              </a:spcBef>
              <a:defRPr sz="1200">
                <a:solidFill>
                  <a:srgbClr val="94A3B8"/>
                </a:solidFill>
              </a:defRPr>
            </a:pPr>
            <a:r>
              <a:t>• Zero Sensory Feedback: Concepts like acoustics, wave harmonics, torque, and Big-O sorting remain abstract symbols on paper.</a:t>
            </a:r>
          </a:p>
          <a:p>
            <a:pPr>
              <a:spcBef>
                <a:spcPts val="1000"/>
              </a:spcBef>
              <a:defRPr sz="1200">
                <a:solidFill>
                  <a:srgbClr val="94A3B8"/>
                </a:solidFill>
              </a:defRPr>
            </a:pPr>
            <a:r>
              <a:t>• Passive Consumption: Students read answers instead of experimenting with variables and discovering principles actively.</a:t>
            </a:r>
          </a:p>
        </p:txBody>
      </p:sp>
      <p:sp>
        <p:nvSpPr>
          <p:cNvPr id="7" name="Rounded Rectangle 6"/>
          <p:cNvSpPr/>
          <p:nvPr/>
        </p:nvSpPr>
        <p:spPr>
          <a:xfrm>
            <a:off x="6217920" y="2011680"/>
            <a:ext cx="5120640" cy="4114800"/>
          </a:xfrm>
          <a:prstGeom prst="roundRect">
            <a:avLst/>
          </a:prstGeom>
          <a:solidFill>
            <a:srgbClr val="0F172A"/>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274320" lIns="365760" rIns="365760"/>
          <a:lstStyle/>
          <a:p>
            <a:pPr algn="ctr">
              <a:defRPr sz="1800" b="1">
                <a:solidFill>
                  <a:srgbClr val="38BDF8"/>
                </a:solidFill>
              </a:defRPr>
            </a:pPr>
            <a:r>
              <a:t>✓ The OmniLab MCP Paradigm</a:t>
            </a:r>
          </a:p>
          <a:p>
            <a:pPr>
              <a:spcBef>
                <a:spcPts val="1000"/>
              </a:spcBef>
              <a:defRPr sz="1200">
                <a:solidFill>
                  <a:srgbClr val="94A3B8"/>
                </a:solidFill>
              </a:defRPr>
            </a:pPr>
            <a:r>
              <a:t>• Generative 3D UI in Chat: Renders live Three.js PBR viewports, Cannon-es physics, and audio synths directly inside the chat thread.</a:t>
            </a:r>
          </a:p>
          <a:p>
            <a:pPr>
              <a:spcBef>
                <a:spcPts val="1000"/>
              </a:spcBef>
              <a:defRPr sz="1200">
                <a:solidFill>
                  <a:srgbClr val="94A3B8"/>
                </a:solidFill>
              </a:defRPr>
            </a:pPr>
            <a:r>
              <a:t>• Deterministic Trust Boundary: Grading is strictly handled by isolated Python subprocesses and math engines—never left to AI hallucinations.</a:t>
            </a:r>
          </a:p>
          <a:p>
            <a:pPr>
              <a:spcBef>
                <a:spcPts val="1000"/>
              </a:spcBef>
              <a:defRPr sz="1200">
                <a:solidFill>
                  <a:srgbClr val="94A3B8"/>
                </a:solidFill>
              </a:defRPr>
            </a:pPr>
            <a:r>
              <a:t>• Socratic Scaffolding: Gemini inspects ground-truth unit test diffs to ask targeted guiding questions rather than giving away answers.</a:t>
            </a:r>
          </a:p>
          <a:p>
            <a:pPr>
              <a:spcBef>
                <a:spcPts val="1000"/>
              </a:spcBef>
              <a:defRPr sz="1200">
                <a:solidFill>
                  <a:srgbClr val="94A3B8"/>
                </a:solidFill>
              </a:defRPr>
            </a:pPr>
            <a:r>
              <a:t>• In-Scene Scientific Explanations: Every 3D simulation includes live embedded concept cards with exact formulas and principles.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000" b="1">
                <a:solidFill>
                  <a:srgbClr val="38BDF8"/>
                </a:solidFill>
              </a:defRPr>
            </a:pPr>
            <a:r>
              <a:t>ENGINEERING &amp; ARCHITECTURE</a:t>
            </a:r>
          </a:p>
        </p:txBody>
      </p:sp>
      <p:sp>
        <p:nvSpPr>
          <p:cNvPr id="4" name="TextBox 3"/>
          <p:cNvSpPr txBox="1"/>
          <p:nvPr/>
        </p:nvSpPr>
        <p:spPr>
          <a:xfrm>
            <a:off x="731520" y="777240"/>
            <a:ext cx="10698480" cy="640080"/>
          </a:xfrm>
          <a:prstGeom prst="rect">
            <a:avLst/>
          </a:prstGeom>
          <a:noFill/>
        </p:spPr>
        <p:txBody>
          <a:bodyPr wrap="square">
            <a:spAutoFit/>
          </a:bodyPr>
          <a:lstStyle/>
          <a:p>
            <a:pPr>
              <a:defRPr sz="2400" b="1">
                <a:solidFill>
                  <a:srgbClr val="F8FAFC"/>
                </a:solidFill>
              </a:defRPr>
            </a:pPr>
            <a:r>
              <a:t>How OmniLab Works: Protocol &amp; Technologies</a:t>
            </a:r>
          </a:p>
        </p:txBody>
      </p:sp>
      <p:sp>
        <p:nvSpPr>
          <p:cNvPr id="5" name="TextBox 4"/>
          <p:cNvSpPr txBox="1"/>
          <p:nvPr/>
        </p:nvSpPr>
        <p:spPr>
          <a:xfrm>
            <a:off x="731520" y="1371600"/>
            <a:ext cx="10698480" cy="457200"/>
          </a:xfrm>
          <a:prstGeom prst="rect">
            <a:avLst/>
          </a:prstGeom>
          <a:noFill/>
        </p:spPr>
        <p:txBody>
          <a:bodyPr wrap="square">
            <a:spAutoFit/>
          </a:bodyPr>
          <a:lstStyle/>
          <a:p>
            <a:pPr>
              <a:defRPr sz="1300">
                <a:solidFill>
                  <a:srgbClr val="94A3B8"/>
                </a:solidFill>
              </a:defRPr>
            </a:pPr>
            <a:r>
              <a:t>A robust decoupling of AI proposal, protocol messaging, and deterministic execution.</a:t>
            </a:r>
          </a:p>
        </p:txBody>
      </p:sp>
      <p:sp>
        <p:nvSpPr>
          <p:cNvPr id="6" name="Rounded Rectangle 5"/>
          <p:cNvSpPr/>
          <p:nvPr/>
        </p:nvSpPr>
        <p:spPr>
          <a:xfrm>
            <a:off x="731520" y="2011680"/>
            <a:ext cx="3383280" cy="192024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tIns="182880" lIns="228600" rIns="228600"/>
          <a:lstStyle/>
          <a:p>
            <a:pPr algn="ctr">
              <a:defRPr sz="1400" b="1">
                <a:solidFill>
                  <a:srgbClr val="38BDF8"/>
                </a:solidFill>
              </a:defRPr>
            </a:pPr>
            <a:r>
              <a:t>MCP Streamable-HTTP Protocol</a:t>
            </a:r>
          </a:p>
          <a:p>
            <a:pPr>
              <a:spcBef>
                <a:spcPts val="800"/>
              </a:spcBef>
              <a:defRPr sz="1100">
                <a:solidFill>
                  <a:srgbClr val="94A3B8"/>
                </a:solidFill>
              </a:defRPr>
            </a:pPr>
            <a:r>
              <a:t>Standardized Model Context Protocol transport on port 3000 handling JSON-RPC tool dispatch and UI resource resolution.</a:t>
            </a:r>
          </a:p>
        </p:txBody>
      </p:sp>
      <p:sp>
        <p:nvSpPr>
          <p:cNvPr id="7" name="Rounded Rectangle 6"/>
          <p:cNvSpPr/>
          <p:nvPr/>
        </p:nvSpPr>
        <p:spPr>
          <a:xfrm>
            <a:off x="4389120" y="2011680"/>
            <a:ext cx="3383280" cy="192024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tIns="182880" lIns="228600" rIns="228600"/>
          <a:lstStyle/>
          <a:p>
            <a:pPr algn="ctr">
              <a:defRPr sz="1400" b="1">
                <a:solidFill>
                  <a:srgbClr val="818CF8"/>
                </a:solidFill>
              </a:defRPr>
            </a:pPr>
            <a:r>
              <a:t>Ext-Apps Generative UI</a:t>
            </a:r>
          </a:p>
          <a:p>
            <a:pPr>
              <a:spcBef>
                <a:spcPts val="800"/>
              </a:spcBef>
              <a:defRPr sz="1100">
                <a:solidFill>
                  <a:srgbClr val="94A3B8"/>
                </a:solidFill>
              </a:defRPr>
            </a:pPr>
            <a:r>
              <a:t>Client-side iframe protocol (@modelcontextprotocol/ext-apps) enabling bidirectional state exchange and zero-install client rendering.</a:t>
            </a:r>
          </a:p>
        </p:txBody>
      </p:sp>
      <p:sp>
        <p:nvSpPr>
          <p:cNvPr id="8" name="Rounded Rectangle 7"/>
          <p:cNvSpPr/>
          <p:nvPr/>
        </p:nvSpPr>
        <p:spPr>
          <a:xfrm>
            <a:off x="8046720" y="2011680"/>
            <a:ext cx="3383280" cy="192024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tIns="182880" lIns="228600" rIns="228600"/>
          <a:lstStyle/>
          <a:p>
            <a:pPr algn="ctr">
              <a:defRPr sz="1400" b="1">
                <a:solidFill>
                  <a:srgbClr val="34D399"/>
                </a:solidFill>
              </a:defRPr>
            </a:pPr>
            <a:r>
              <a:t>Google Gemini Multi-Model AI</a:t>
            </a:r>
          </a:p>
          <a:p>
            <a:pPr>
              <a:spcBef>
                <a:spcPts val="800"/>
              </a:spcBef>
              <a:defRPr sz="1100">
                <a:solidFill>
                  <a:srgbClr val="94A3B8"/>
                </a:solidFill>
              </a:defRPr>
            </a:pPr>
            <a:r>
              <a:t>Leverages gemini-flash-lite-latest with fallback to generate 3D spatial scene specifications and Socratic tutoring hints.</a:t>
            </a:r>
          </a:p>
        </p:txBody>
      </p:sp>
      <p:sp>
        <p:nvSpPr>
          <p:cNvPr id="9" name="Rounded Rectangle 8"/>
          <p:cNvSpPr/>
          <p:nvPr/>
        </p:nvSpPr>
        <p:spPr>
          <a:xfrm>
            <a:off x="731520" y="4206240"/>
            <a:ext cx="3383280" cy="192024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tIns="182880" lIns="228600" rIns="228600"/>
          <a:lstStyle/>
          <a:p>
            <a:pPr algn="ctr">
              <a:defRPr sz="1400" b="1">
                <a:solidFill>
                  <a:srgbClr val="38BDF8"/>
                </a:solidFill>
              </a:defRPr>
            </a:pPr>
            <a:r>
              <a:t>Three.js WebGL (PBR Shaders)</a:t>
            </a:r>
          </a:p>
          <a:p>
            <a:pPr>
              <a:spcBef>
                <a:spcPts val="800"/>
              </a:spcBef>
              <a:defRPr sz="1100">
                <a:solidFill>
                  <a:srgbClr val="94A3B8"/>
                </a:solidFill>
              </a:defRPr>
            </a:pPr>
            <a:r>
              <a:t>Physically-Based Rendering with ACESFilmic tone mapping, PCF soft shadows, MeshPhysicalMaterial clearcoat, and procedural maps.</a:t>
            </a:r>
          </a:p>
        </p:txBody>
      </p:sp>
      <p:sp>
        <p:nvSpPr>
          <p:cNvPr id="10" name="Rounded Rectangle 9"/>
          <p:cNvSpPr/>
          <p:nvPr/>
        </p:nvSpPr>
        <p:spPr>
          <a:xfrm>
            <a:off x="4389120" y="4206240"/>
            <a:ext cx="3383280" cy="192024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tIns="182880" lIns="228600" rIns="228600"/>
          <a:lstStyle/>
          <a:p>
            <a:pPr algn="ctr">
              <a:defRPr sz="1400" b="1">
                <a:solidFill>
                  <a:srgbClr val="F43F5E"/>
                </a:solidFill>
              </a:defRPr>
            </a:pPr>
            <a:r>
              <a:t>Cannon-es 3D Rigid Physics</a:t>
            </a:r>
          </a:p>
          <a:p>
            <a:pPr>
              <a:spcBef>
                <a:spcPts val="800"/>
              </a:spcBef>
              <a:defRPr sz="1100">
                <a:solidFill>
                  <a:srgbClr val="94A3B8"/>
                </a:solidFill>
              </a:defRPr>
            </a:pPr>
            <a:r>
              <a:t>60 Hz continuous collision dynamics engine computing linear momentum, impulse, torque, and variable gravity presets.</a:t>
            </a:r>
          </a:p>
        </p:txBody>
      </p:sp>
      <p:sp>
        <p:nvSpPr>
          <p:cNvPr id="11" name="Rounded Rectangle 10"/>
          <p:cNvSpPr/>
          <p:nvPr/>
        </p:nvSpPr>
        <p:spPr>
          <a:xfrm>
            <a:off x="8046720" y="4206240"/>
            <a:ext cx="3383280" cy="192024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tIns="182880" lIns="228600" rIns="228600"/>
          <a:lstStyle/>
          <a:p>
            <a:pPr algn="ctr">
              <a:defRPr sz="1400" b="1">
                <a:solidFill>
                  <a:srgbClr val="34D399"/>
                </a:solidFill>
              </a:defRPr>
            </a:pPr>
            <a:r>
              <a:t>Deterministic Python Sandbox</a:t>
            </a:r>
          </a:p>
          <a:p>
            <a:pPr>
              <a:spcBef>
                <a:spcPts val="800"/>
              </a:spcBef>
              <a:defRPr sz="1100">
                <a:solidFill>
                  <a:srgbClr val="94A3B8"/>
                </a:solidFill>
              </a:defRPr>
            </a:pPr>
            <a:r>
              <a:t>Subprocess execution (python -I) with 5s timeout; checks real assertions before progress_store.py awards verified mastery.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000" b="1">
                <a:solidFill>
                  <a:srgbClr val="38BDF8"/>
                </a:solidFill>
              </a:defRPr>
            </a:pPr>
            <a:r>
              <a:t>FEATURE HIGHLIGHT 01</a:t>
            </a:r>
          </a:p>
        </p:txBody>
      </p:sp>
      <p:sp>
        <p:nvSpPr>
          <p:cNvPr id="4" name="TextBox 3"/>
          <p:cNvSpPr txBox="1"/>
          <p:nvPr/>
        </p:nvSpPr>
        <p:spPr>
          <a:xfrm>
            <a:off x="731520" y="777240"/>
            <a:ext cx="10698480" cy="640080"/>
          </a:xfrm>
          <a:prstGeom prst="rect">
            <a:avLst/>
          </a:prstGeom>
          <a:noFill/>
        </p:spPr>
        <p:txBody>
          <a:bodyPr wrap="square">
            <a:spAutoFit/>
          </a:bodyPr>
          <a:lstStyle/>
          <a:p>
            <a:pPr>
              <a:defRPr sz="2400" b="1">
                <a:solidFill>
                  <a:srgbClr val="F8FAFC"/>
                </a:solidFill>
              </a:defRPr>
            </a:pPr>
            <a:r>
              <a:t>3D Rigid-Body Physics Playground (Cannon-es + PBR)</a:t>
            </a:r>
          </a:p>
        </p:txBody>
      </p:sp>
      <p:sp>
        <p:nvSpPr>
          <p:cNvPr id="5" name="TextBox 4"/>
          <p:cNvSpPr txBox="1"/>
          <p:nvPr/>
        </p:nvSpPr>
        <p:spPr>
          <a:xfrm>
            <a:off x="731520" y="1371600"/>
            <a:ext cx="10698480" cy="457200"/>
          </a:xfrm>
          <a:prstGeom prst="rect">
            <a:avLst/>
          </a:prstGeom>
          <a:noFill/>
        </p:spPr>
        <p:txBody>
          <a:bodyPr wrap="square">
            <a:spAutoFit/>
          </a:bodyPr>
          <a:lstStyle/>
          <a:p>
            <a:pPr>
              <a:defRPr sz="1300">
                <a:solidFill>
                  <a:srgbClr val="94A3B8"/>
                </a:solidFill>
              </a:defRPr>
            </a:pPr>
            <a:r>
              <a:t>Hands-on kinetic momentum, collision dynamics, and gravitational experimentation.</a:t>
            </a:r>
          </a:p>
        </p:txBody>
      </p:sp>
      <p:sp>
        <p:nvSpPr>
          <p:cNvPr id="6" name="TextBox 5"/>
          <p:cNvSpPr txBox="1"/>
          <p:nvPr/>
        </p:nvSpPr>
        <p:spPr>
          <a:xfrm>
            <a:off x="731520" y="2011680"/>
            <a:ext cx="4389120" cy="4206240"/>
          </a:xfrm>
          <a:prstGeom prst="rect">
            <a:avLst/>
          </a:prstGeom>
          <a:noFill/>
        </p:spPr>
        <p:txBody>
          <a:bodyPr wrap="square">
            <a:spAutoFit/>
          </a:bodyPr>
          <a:lstStyle/>
          <a:p>
            <a:pPr>
              <a:spcBef>
                <a:spcPts val="800"/>
              </a:spcBef>
              <a:defRPr sz="1200">
                <a:solidFill>
                  <a:srgbClr val="F8FAFC"/>
                </a:solidFill>
              </a:defRPr>
            </a:pPr>
            <a:r>
              <a:t>• 60 Hz Collision Engine: Simulates mass, velocity vectors, friction (μ=0.28), and restitution (e=0.45) across multiple interacting rigid bodies.</a:t>
            </a:r>
          </a:p>
          <a:p>
            <a:pPr>
              <a:spcBef>
                <a:spcPts val="800"/>
              </a:spcBef>
              <a:defRPr sz="1200">
                <a:solidFill>
                  <a:srgbClr val="F8FAFC"/>
                </a:solidFill>
              </a:defRPr>
            </a:pPr>
            <a:r>
              <a:t>• Interactive Cannonball Blaster: Users click anywhere in 3D space to fire high-velocity steel projectiles into balanced dominoes and block towers.</a:t>
            </a:r>
          </a:p>
          <a:p>
            <a:pPr>
              <a:spcBef>
                <a:spcPts val="800"/>
              </a:spcBef>
              <a:defRPr sz="1200">
                <a:solidFill>
                  <a:srgbClr val="F8FAFC"/>
                </a:solidFill>
              </a:defRPr>
            </a:pPr>
            <a:r>
              <a:t>• Variable Gravity Presets: Instantly switch gravity: 🌍 Earth (-9.82 m/s²), 🌕 Moon (-1.62 m/s²), 🌌 Zero-G (0.0 m/s²), 🪐 Jupiter (-24.79 m/s²).</a:t>
            </a:r>
          </a:p>
          <a:p>
            <a:pPr>
              <a:spcBef>
                <a:spcPts val="800"/>
              </a:spcBef>
              <a:defRPr sz="1200">
                <a:solidFill>
                  <a:srgbClr val="F8FAFC"/>
                </a:solidFill>
              </a:defRPr>
            </a:pPr>
            <a:r>
              <a:t>• Embedded Physics Law Card: Displays exact formulas for linear momentum (p = m·v), torque (τ = r × F), and cascade potential-to-kinetic conversion.</a:t>
            </a:r>
          </a:p>
        </p:txBody>
      </p:sp>
      <p:pic>
        <p:nvPicPr>
          <p:cNvPr id="7" name="Picture 6" descr="3d_physics_explained.png"/>
          <p:cNvPicPr>
            <a:picLocks noChangeAspect="1"/>
          </p:cNvPicPr>
          <p:nvPr/>
        </p:nvPicPr>
        <p:blipFill>
          <a:blip r:embed="rId2"/>
          <a:stretch>
            <a:fillRect/>
          </a:stretch>
        </p:blipFill>
        <p:spPr>
          <a:xfrm>
            <a:off x="5303520" y="2011680"/>
            <a:ext cx="6126480" cy="4114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000" b="1">
                <a:solidFill>
                  <a:srgbClr val="38BDF8"/>
                </a:solidFill>
              </a:defRPr>
            </a:pPr>
            <a:r>
              <a:t>FEATURE HIGHLIGHT 02</a:t>
            </a:r>
          </a:p>
        </p:txBody>
      </p:sp>
      <p:sp>
        <p:nvSpPr>
          <p:cNvPr id="4" name="TextBox 3"/>
          <p:cNvSpPr txBox="1"/>
          <p:nvPr/>
        </p:nvSpPr>
        <p:spPr>
          <a:xfrm>
            <a:off x="731520" y="777240"/>
            <a:ext cx="10698480" cy="640080"/>
          </a:xfrm>
          <a:prstGeom prst="rect">
            <a:avLst/>
          </a:prstGeom>
          <a:noFill/>
        </p:spPr>
        <p:txBody>
          <a:bodyPr wrap="square">
            <a:spAutoFit/>
          </a:bodyPr>
          <a:lstStyle/>
          <a:p>
            <a:pPr>
              <a:defRPr sz="2400" b="1">
                <a:solidFill>
                  <a:srgbClr val="F8FAFC"/>
                </a:solidFill>
              </a:defRPr>
            </a:pPr>
            <a:r>
              <a:t>Interactive Web Audio Synthesizer &amp; 60 FPS Oscilloscope</a:t>
            </a:r>
          </a:p>
        </p:txBody>
      </p:sp>
      <p:sp>
        <p:nvSpPr>
          <p:cNvPr id="5" name="TextBox 4"/>
          <p:cNvSpPr txBox="1"/>
          <p:nvPr/>
        </p:nvSpPr>
        <p:spPr>
          <a:xfrm>
            <a:off x="731520" y="1371600"/>
            <a:ext cx="10698480" cy="457200"/>
          </a:xfrm>
          <a:prstGeom prst="rect">
            <a:avLst/>
          </a:prstGeom>
          <a:noFill/>
        </p:spPr>
        <p:txBody>
          <a:bodyPr wrap="square">
            <a:spAutoFit/>
          </a:bodyPr>
          <a:lstStyle/>
          <a:p>
            <a:pPr>
              <a:defRPr sz="1300">
                <a:solidFill>
                  <a:srgbClr val="94A3B8"/>
                </a:solidFill>
              </a:defRPr>
            </a:pPr>
            <a:r>
              <a:t>Bridging acoustics, Fourier series, and sensory auditory feedback.</a:t>
            </a:r>
          </a:p>
        </p:txBody>
      </p:sp>
      <p:sp>
        <p:nvSpPr>
          <p:cNvPr id="6" name="TextBox 5"/>
          <p:cNvSpPr txBox="1"/>
          <p:nvPr/>
        </p:nvSpPr>
        <p:spPr>
          <a:xfrm>
            <a:off x="731520" y="2011680"/>
            <a:ext cx="4389120" cy="4206240"/>
          </a:xfrm>
          <a:prstGeom prst="rect">
            <a:avLst/>
          </a:prstGeom>
          <a:noFill/>
        </p:spPr>
        <p:txBody>
          <a:bodyPr wrap="square">
            <a:spAutoFit/>
          </a:bodyPr>
          <a:lstStyle/>
          <a:p>
            <a:pPr>
              <a:spcBef>
                <a:spcPts val="800"/>
              </a:spcBef>
              <a:defRPr sz="1200">
                <a:solidFill>
                  <a:srgbClr val="F8FAFC"/>
                </a:solidFill>
              </a:defRPr>
            </a:pPr>
            <a:r>
              <a:t>• Native AudioContext Engine: Generates real audio frequencies directly in the user's browser without external audio files.</a:t>
            </a:r>
          </a:p>
          <a:p>
            <a:pPr>
              <a:spcBef>
                <a:spcPts val="800"/>
              </a:spcBef>
              <a:defRPr sz="1200">
                <a:solidFill>
                  <a:srgbClr val="F8FAFC"/>
                </a:solidFill>
              </a:defRPr>
            </a:pPr>
            <a:r>
              <a:t>• Live 60 FPS Oscilloscope: Extracts time-domain data via AnalyserNode to draw glowing real-time vibrating waveform harmonics.</a:t>
            </a:r>
          </a:p>
          <a:p>
            <a:pPr>
              <a:spcBef>
                <a:spcPts val="800"/>
              </a:spcBef>
              <a:defRPr sz="1200">
                <a:solidFill>
                  <a:srgbClr val="F8FAFC"/>
                </a:solidFill>
              </a:defRPr>
            </a:pPr>
            <a:r>
              <a:t>• Harmonic Waveform Selectors: Switch between Sine ∿, Square ⊓, Sawtooth ⧘, and Triangle ⋀ to observe harmonic timbre changes.</a:t>
            </a:r>
          </a:p>
          <a:p>
            <a:pPr>
              <a:spcBef>
                <a:spcPts val="800"/>
              </a:spcBef>
              <a:defRPr sz="1200">
                <a:solidFill>
                  <a:srgbClr val="F8FAFC"/>
                </a:solidFill>
              </a:defRPr>
            </a:pPr>
            <a:r>
              <a:t>• Interactive Piano Keyboard: Playable 8-key piano keyboard (C4 through C5) with resonant low-pass filter cutoff and pitch sliders.</a:t>
            </a:r>
          </a:p>
          <a:p>
            <a:pPr>
              <a:spcBef>
                <a:spcPts val="800"/>
              </a:spcBef>
              <a:defRPr sz="1200">
                <a:solidFill>
                  <a:srgbClr val="F8FAFC"/>
                </a:solidFill>
              </a:defRPr>
            </a:pPr>
            <a:r>
              <a:t>• Acoustic Equations: Displays Fourier wave expansions and harmonic frequency relationships alongside audible sound.</a:t>
            </a:r>
          </a:p>
        </p:txBody>
      </p:sp>
      <p:pic>
        <p:nvPicPr>
          <p:cNvPr id="7" name="Picture 6" descr="dashboard_audio.png"/>
          <p:cNvPicPr>
            <a:picLocks noChangeAspect="1"/>
          </p:cNvPicPr>
          <p:nvPr/>
        </p:nvPicPr>
        <p:blipFill>
          <a:blip r:embed="rId2"/>
          <a:stretch>
            <a:fillRect/>
          </a:stretch>
        </p:blipFill>
        <p:spPr>
          <a:xfrm>
            <a:off x="5303520" y="2011680"/>
            <a:ext cx="6126480" cy="4114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000" b="1">
                <a:solidFill>
                  <a:srgbClr val="38BDF8"/>
                </a:solidFill>
              </a:defRPr>
            </a:pPr>
            <a:r>
              <a:t>FEATURE HIGHLIGHT 03</a:t>
            </a:r>
          </a:p>
        </p:txBody>
      </p:sp>
      <p:sp>
        <p:nvSpPr>
          <p:cNvPr id="4" name="TextBox 3"/>
          <p:cNvSpPr txBox="1"/>
          <p:nvPr/>
        </p:nvSpPr>
        <p:spPr>
          <a:xfrm>
            <a:off x="731520" y="777240"/>
            <a:ext cx="10698480" cy="640080"/>
          </a:xfrm>
          <a:prstGeom prst="rect">
            <a:avLst/>
          </a:prstGeom>
          <a:noFill/>
        </p:spPr>
        <p:txBody>
          <a:bodyPr wrap="square">
            <a:spAutoFit/>
          </a:bodyPr>
          <a:lstStyle/>
          <a:p>
            <a:pPr>
              <a:defRPr sz="2400" b="1">
                <a:solidFill>
                  <a:srgbClr val="F8FAFC"/>
                </a:solidFill>
              </a:defRPr>
            </a:pPr>
            <a:r>
              <a:t>3D Algorithm Step-by-Step Voxel Visualizer</a:t>
            </a:r>
          </a:p>
        </p:txBody>
      </p:sp>
      <p:sp>
        <p:nvSpPr>
          <p:cNvPr id="5" name="TextBox 4"/>
          <p:cNvSpPr txBox="1"/>
          <p:nvPr/>
        </p:nvSpPr>
        <p:spPr>
          <a:xfrm>
            <a:off x="731520" y="1371600"/>
            <a:ext cx="10698480" cy="457200"/>
          </a:xfrm>
          <a:prstGeom prst="rect">
            <a:avLst/>
          </a:prstGeom>
          <a:noFill/>
        </p:spPr>
        <p:txBody>
          <a:bodyPr wrap="square">
            <a:spAutoFit/>
          </a:bodyPr>
          <a:lstStyle/>
          <a:p>
            <a:pPr>
              <a:defRPr sz="1300">
                <a:solidFill>
                  <a:srgbClr val="94A3B8"/>
                </a:solidFill>
              </a:defRPr>
            </a:pPr>
            <a:r>
              <a:t>Making time complexity, loop invariants, and data structures visually intuitive.</a:t>
            </a:r>
          </a:p>
        </p:txBody>
      </p:sp>
      <p:sp>
        <p:nvSpPr>
          <p:cNvPr id="6" name="TextBox 5"/>
          <p:cNvSpPr txBox="1"/>
          <p:nvPr/>
        </p:nvSpPr>
        <p:spPr>
          <a:xfrm>
            <a:off x="731520" y="2011680"/>
            <a:ext cx="4389120" cy="4206240"/>
          </a:xfrm>
          <a:prstGeom prst="rect">
            <a:avLst/>
          </a:prstGeom>
          <a:noFill/>
        </p:spPr>
        <p:txBody>
          <a:bodyPr wrap="square">
            <a:spAutoFit/>
          </a:bodyPr>
          <a:lstStyle/>
          <a:p>
            <a:pPr>
              <a:spcBef>
                <a:spcPts val="800"/>
              </a:spcBef>
              <a:defRPr sz="1200">
                <a:solidFill>
                  <a:srgbClr val="F8FAFC"/>
                </a:solidFill>
              </a:defRPr>
            </a:pPr>
            <a:r>
              <a:t>• Voxel Pillar Mapping: Array elements are rendered as 3D physical columns whose heights correspond to values.</a:t>
            </a:r>
          </a:p>
          <a:p>
            <a:pPr>
              <a:spcBef>
                <a:spcPts val="800"/>
              </a:spcBef>
              <a:defRPr sz="1200">
                <a:solidFill>
                  <a:srgbClr val="F8FAFC"/>
                </a:solidFill>
              </a:defRPr>
            </a:pPr>
            <a:r>
              <a:t>• Dynamic Color-Coded States: 🟦 Default Blue  |  🟨 Comparing Amber  |  🟥 Active Swap Crimson  |  🟩 Sorted Emerald Green.</a:t>
            </a:r>
          </a:p>
          <a:p>
            <a:pPr>
              <a:spcBef>
                <a:spcPts val="800"/>
              </a:spcBef>
              <a:defRPr sz="1200">
                <a:solidFill>
                  <a:srgbClr val="F8FAFC"/>
                </a:solidFill>
              </a:defRPr>
            </a:pPr>
            <a:r>
              <a:t>• Full Playback Control: Step Forward, Step Backward, Play/Pause, Reset, and 1x / 2x / 4x speed toggles.</a:t>
            </a:r>
          </a:p>
          <a:p>
            <a:pPr>
              <a:spcBef>
                <a:spcPts val="800"/>
              </a:spcBef>
              <a:defRPr sz="1200">
                <a:solidFill>
                  <a:srgbClr val="F8FAFC"/>
                </a:solidFill>
              </a:defRPr>
            </a:pPr>
            <a:r>
              <a:t>• Theory &amp; Invariant Panel: Explains the loop invariant (why the green zone grows from right to left) and compares worst-case O(n²) with best-case O(n).</a:t>
            </a:r>
          </a:p>
          <a:p>
            <a:pPr>
              <a:spcBef>
                <a:spcPts val="800"/>
              </a:spcBef>
              <a:defRPr sz="1200">
                <a:solidFill>
                  <a:srgbClr val="F8FAFC"/>
                </a:solidFill>
              </a:defRPr>
            </a:pPr>
            <a:r>
              <a:t>• Deterministic Trace: Server calculates mathematical step traces deterministically before rendering.</a:t>
            </a:r>
          </a:p>
        </p:txBody>
      </p:sp>
      <p:pic>
        <p:nvPicPr>
          <p:cNvPr id="7" name="Picture 6" descr="3d_algo_explained.png"/>
          <p:cNvPicPr>
            <a:picLocks noChangeAspect="1"/>
          </p:cNvPicPr>
          <p:nvPr/>
        </p:nvPicPr>
        <p:blipFill>
          <a:blip r:embed="rId2"/>
          <a:stretch>
            <a:fillRect/>
          </a:stretch>
        </p:blipFill>
        <p:spPr>
          <a:xfrm>
            <a:off x="5303520" y="2011680"/>
            <a:ext cx="6126480" cy="41148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000" b="1">
                <a:solidFill>
                  <a:srgbClr val="38BDF8"/>
                </a:solidFill>
              </a:defRPr>
            </a:pPr>
            <a:r>
              <a:t>FEATURE HIGHLIGHT 04</a:t>
            </a:r>
          </a:p>
        </p:txBody>
      </p:sp>
      <p:sp>
        <p:nvSpPr>
          <p:cNvPr id="4" name="TextBox 3"/>
          <p:cNvSpPr txBox="1"/>
          <p:nvPr/>
        </p:nvSpPr>
        <p:spPr>
          <a:xfrm>
            <a:off x="731520" y="777240"/>
            <a:ext cx="10698480" cy="640080"/>
          </a:xfrm>
          <a:prstGeom prst="rect">
            <a:avLst/>
          </a:prstGeom>
          <a:noFill/>
        </p:spPr>
        <p:txBody>
          <a:bodyPr wrap="square">
            <a:spAutoFit/>
          </a:bodyPr>
          <a:lstStyle/>
          <a:p>
            <a:pPr>
              <a:defRPr sz="2400" b="1">
                <a:solidFill>
                  <a:srgbClr val="F8FAFC"/>
                </a:solidFill>
              </a:defRPr>
            </a:pPr>
            <a:r>
              <a:t>3D Math Topology &amp; Astrophysics Simulation</a:t>
            </a:r>
          </a:p>
        </p:txBody>
      </p:sp>
      <p:sp>
        <p:nvSpPr>
          <p:cNvPr id="5" name="TextBox 4"/>
          <p:cNvSpPr txBox="1"/>
          <p:nvPr/>
        </p:nvSpPr>
        <p:spPr>
          <a:xfrm>
            <a:off x="731520" y="1371600"/>
            <a:ext cx="10698480" cy="457200"/>
          </a:xfrm>
          <a:prstGeom prst="rect">
            <a:avLst/>
          </a:prstGeom>
          <a:noFill/>
        </p:spPr>
        <p:txBody>
          <a:bodyPr wrap="square">
            <a:spAutoFit/>
          </a:bodyPr>
          <a:lstStyle/>
          <a:p>
            <a:pPr>
              <a:defRPr sz="1300">
                <a:solidFill>
                  <a:srgbClr val="94A3B8"/>
                </a:solidFill>
              </a:defRPr>
            </a:pPr>
            <a:r>
              <a:t>Exploring multivariable calculus and orbital mechanics in photorealistic WebGL.</a:t>
            </a:r>
          </a:p>
        </p:txBody>
      </p:sp>
      <p:sp>
        <p:nvSpPr>
          <p:cNvPr id="6" name="Rounded Rectangle 5"/>
          <p:cNvSpPr/>
          <p:nvPr/>
        </p:nvSpPr>
        <p:spPr>
          <a:xfrm>
            <a:off x="731520" y="2011680"/>
            <a:ext cx="5120640" cy="420624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tIns="182880" lIns="274320" rIns="274320"/>
          <a:lstStyle/>
          <a:p>
            <a:pPr algn="ctr">
              <a:defRPr sz="1400" b="1">
                <a:solidFill>
                  <a:srgbClr val="38BDF8"/>
                </a:solidFill>
              </a:defRPr>
            </a:pPr>
            <a:r>
              <a:t>📐 3D Topological Math Surface Plotter</a:t>
            </a:r>
          </a:p>
          <a:p>
            <a:pPr>
              <a:spcBef>
                <a:spcPts val="600"/>
              </a:spcBef>
              <a:defRPr sz="1100">
                <a:solidFill>
                  <a:srgbClr val="94A3B8"/>
                </a:solidFill>
              </a:defRPr>
            </a:pPr>
            <a:r>
              <a:t>• Closed-form multivariable wave equation: z = 2.8·sin(1.1r)·e^(-0.07r)</a:t>
            </a:r>
            <a:br/>
            <a:r>
              <a:t>• Spectral elevation colormapping from ocean troughs to white crests.</a:t>
            </a:r>
            <a:br/>
            <a:r>
              <a:t>• Explains gradient vector fields (∇z) and stationary critical ring circles.</a:t>
            </a:r>
          </a:p>
        </p:txBody>
      </p:sp>
      <p:pic>
        <p:nvPicPr>
          <p:cNvPr id="7" name="Picture 6" descr="3d_math_explained.png"/>
          <p:cNvPicPr>
            <a:picLocks noChangeAspect="1"/>
          </p:cNvPicPr>
          <p:nvPr/>
        </p:nvPicPr>
        <p:blipFill>
          <a:blip r:embed="rId2"/>
          <a:stretch>
            <a:fillRect/>
          </a:stretch>
        </p:blipFill>
        <p:spPr>
          <a:xfrm>
            <a:off x="822960" y="3474720"/>
            <a:ext cx="4937760" cy="2560320"/>
          </a:xfrm>
          <a:prstGeom prst="rect">
            <a:avLst/>
          </a:prstGeom>
        </p:spPr>
      </p:pic>
      <p:sp>
        <p:nvSpPr>
          <p:cNvPr id="8" name="Rounded Rectangle 7"/>
          <p:cNvSpPr/>
          <p:nvPr/>
        </p:nvSpPr>
        <p:spPr>
          <a:xfrm>
            <a:off x="6217920" y="2011680"/>
            <a:ext cx="5120640" cy="420624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tIns="182880" lIns="274320" rIns="274320"/>
          <a:lstStyle/>
          <a:p>
            <a:pPr algn="ctr">
              <a:defRPr sz="1400" b="1">
                <a:solidFill>
                  <a:srgbClr val="818CF8"/>
                </a:solidFill>
              </a:defRPr>
            </a:pPr>
            <a:r>
              <a:t>🪐 AI-Generated 3D Solar System Simulation</a:t>
            </a:r>
          </a:p>
          <a:p>
            <a:pPr>
              <a:spcBef>
                <a:spcPts val="600"/>
              </a:spcBef>
              <a:defRPr sz="1100">
                <a:solidFill>
                  <a:srgbClr val="94A3B8"/>
                </a:solidFill>
              </a:defRPr>
            </a:pPr>
            <a:r>
              <a:t>• Gemini generates structured astrophysical scenes with real orbital radii.</a:t>
            </a:r>
            <a:br/>
            <a:r>
              <a:t>• Procedural planet textures, atmospheric Rayleigh scattering, and Saturn rings.</a:t>
            </a:r>
            <a:br/>
            <a:r>
              <a:t>• In-scene card explains Kepler's 3rd Law (T² ∝ a³) and orbital velocities.</a:t>
            </a:r>
          </a:p>
        </p:txBody>
      </p:sp>
      <p:pic>
        <p:nvPicPr>
          <p:cNvPr id="9" name="Picture 8" descr="3d_solar_system_explained.png"/>
          <p:cNvPicPr>
            <a:picLocks noChangeAspect="1"/>
          </p:cNvPicPr>
          <p:nvPr/>
        </p:nvPicPr>
        <p:blipFill>
          <a:blip r:embed="rId3"/>
          <a:stretch>
            <a:fillRect/>
          </a:stretch>
        </p:blipFill>
        <p:spPr>
          <a:xfrm>
            <a:off x="6309360" y="3474720"/>
            <a:ext cx="4937760" cy="25603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000" b="1">
                <a:solidFill>
                  <a:srgbClr val="38BDF8"/>
                </a:solidFill>
              </a:defRPr>
            </a:pPr>
            <a:r>
              <a:t>VERIFICATION &amp; IMPACT</a:t>
            </a:r>
          </a:p>
        </p:txBody>
      </p:sp>
      <p:sp>
        <p:nvSpPr>
          <p:cNvPr id="4" name="TextBox 3"/>
          <p:cNvSpPr txBox="1"/>
          <p:nvPr/>
        </p:nvSpPr>
        <p:spPr>
          <a:xfrm>
            <a:off x="731520" y="777240"/>
            <a:ext cx="10698480" cy="640080"/>
          </a:xfrm>
          <a:prstGeom prst="rect">
            <a:avLst/>
          </a:prstGeom>
          <a:noFill/>
        </p:spPr>
        <p:txBody>
          <a:bodyPr wrap="square">
            <a:spAutoFit/>
          </a:bodyPr>
          <a:lstStyle/>
          <a:p>
            <a:pPr>
              <a:defRPr sz="2400" b="1">
                <a:solidFill>
                  <a:srgbClr val="F8FAFC"/>
                </a:solidFill>
              </a:defRPr>
            </a:pPr>
            <a:r>
              <a:t>13 Registered Tools, 6 Widgets &amp; 100% Test Coverage</a:t>
            </a:r>
          </a:p>
        </p:txBody>
      </p:sp>
      <p:sp>
        <p:nvSpPr>
          <p:cNvPr id="5" name="TextBox 4"/>
          <p:cNvSpPr txBox="1"/>
          <p:nvPr/>
        </p:nvSpPr>
        <p:spPr>
          <a:xfrm>
            <a:off x="731520" y="1371600"/>
            <a:ext cx="10698480" cy="457200"/>
          </a:xfrm>
          <a:prstGeom prst="rect">
            <a:avLst/>
          </a:prstGeom>
          <a:noFill/>
        </p:spPr>
        <p:txBody>
          <a:bodyPr wrap="square">
            <a:spAutoFit/>
          </a:bodyPr>
          <a:lstStyle/>
          <a:p>
            <a:pPr>
              <a:defRPr sz="1300">
                <a:solidFill>
                  <a:srgbClr val="94A3B8"/>
                </a:solidFill>
              </a:defRPr>
            </a:pPr>
            <a:r>
              <a:t>Built with rock-solid architectural verification and multi-modal rigor.</a:t>
            </a:r>
          </a:p>
        </p:txBody>
      </p:sp>
      <p:sp>
        <p:nvSpPr>
          <p:cNvPr id="6" name="TextBox 5"/>
          <p:cNvSpPr txBox="1"/>
          <p:nvPr/>
        </p:nvSpPr>
        <p:spPr>
          <a:xfrm>
            <a:off x="731520" y="2011680"/>
            <a:ext cx="4754880" cy="4206240"/>
          </a:xfrm>
          <a:prstGeom prst="rect">
            <a:avLst/>
          </a:prstGeom>
          <a:noFill/>
        </p:spPr>
        <p:txBody>
          <a:bodyPr wrap="square">
            <a:spAutoFit/>
          </a:bodyPr>
          <a:lstStyle/>
          <a:p>
            <a:pPr>
              <a:spcBef>
                <a:spcPts val="800"/>
              </a:spcBef>
              <a:defRPr sz="1200">
                <a:solidFill>
                  <a:srgbClr val="F8FAFC"/>
                </a:solidFill>
              </a:defRPr>
            </a:pPr>
            <a:r>
              <a:t>• Complete Tool Suite (13 Tools): Physics playground, audio synth, algo visualizer, web sandbox, 3D math surface, Gemini 3D space scene, Python scratchpad, student analytics, code mission, unit test runner, simulation checker, Socratic hints, and progress store.</a:t>
            </a:r>
          </a:p>
          <a:p>
            <a:pPr>
              <a:spcBef>
                <a:spcPts val="800"/>
              </a:spcBef>
              <a:defRPr sz="1200">
                <a:solidFill>
                  <a:srgbClr val="F8FAFC"/>
                </a:solidFill>
              </a:defRPr>
            </a:pPr>
            <a:r>
              <a:t>• 6 Generative UI Widgets: All bundled self-contained HTML/TypeScript widgets with zero client dependency issues.</a:t>
            </a:r>
          </a:p>
          <a:p>
            <a:pPr>
              <a:spcBef>
                <a:spcPts val="800"/>
              </a:spcBef>
              <a:defRPr sz="1200">
                <a:solidFill>
                  <a:srgbClr val="F8FAFC"/>
                </a:solidFill>
              </a:defRPr>
            </a:pPr>
            <a:r>
              <a:t>• Deterministic Trust Boundary: AI never grades its own homework. Real test executions determine progress.</a:t>
            </a:r>
          </a:p>
          <a:p>
            <a:pPr>
              <a:spcBef>
                <a:spcPts val="800"/>
              </a:spcBef>
              <a:defRPr sz="1200">
                <a:solidFill>
                  <a:srgbClr val="F8FAFC"/>
                </a:solidFill>
              </a:defRPr>
            </a:pPr>
            <a:r>
              <a:t>• Socratic Learning Loop: Students are guided to self-correction through real failure traces.</a:t>
            </a:r>
          </a:p>
        </p:txBody>
      </p:sp>
      <p:pic>
        <p:nvPicPr>
          <p:cNvPr id="7" name="Picture 6" descr="test_report_card.png"/>
          <p:cNvPicPr>
            <a:picLocks noChangeAspect="1"/>
          </p:cNvPicPr>
          <p:nvPr/>
        </p:nvPicPr>
        <p:blipFill>
          <a:blip r:embed="rId2"/>
          <a:stretch>
            <a:fillRect/>
          </a:stretch>
        </p:blipFill>
        <p:spPr>
          <a:xfrm>
            <a:off x="5669280" y="2011680"/>
            <a:ext cx="5760720" cy="41148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000" b="1">
                <a:solidFill>
                  <a:srgbClr val="38BDF8"/>
                </a:solidFill>
              </a:defRPr>
            </a:pPr>
            <a:r>
              <a:t>CONCLUSION &amp; HORIZON</a:t>
            </a:r>
          </a:p>
        </p:txBody>
      </p:sp>
      <p:sp>
        <p:nvSpPr>
          <p:cNvPr id="4" name="TextBox 3"/>
          <p:cNvSpPr txBox="1"/>
          <p:nvPr/>
        </p:nvSpPr>
        <p:spPr>
          <a:xfrm>
            <a:off x="731520" y="777240"/>
            <a:ext cx="10698480" cy="640080"/>
          </a:xfrm>
          <a:prstGeom prst="rect">
            <a:avLst/>
          </a:prstGeom>
          <a:noFill/>
        </p:spPr>
        <p:txBody>
          <a:bodyPr wrap="square">
            <a:spAutoFit/>
          </a:bodyPr>
          <a:lstStyle/>
          <a:p>
            <a:pPr>
              <a:defRPr sz="2400" b="1">
                <a:solidFill>
                  <a:srgbClr val="F8FAFC"/>
                </a:solidFill>
              </a:defRPr>
            </a:pPr>
            <a:r>
              <a:t>The Future of AI-Assisted Learning with Model Context Protocol</a:t>
            </a:r>
          </a:p>
        </p:txBody>
      </p:sp>
      <p:sp>
        <p:nvSpPr>
          <p:cNvPr id="5" name="TextBox 4"/>
          <p:cNvSpPr txBox="1"/>
          <p:nvPr/>
        </p:nvSpPr>
        <p:spPr>
          <a:xfrm>
            <a:off x="731520" y="1371600"/>
            <a:ext cx="10698480" cy="457200"/>
          </a:xfrm>
          <a:prstGeom prst="rect">
            <a:avLst/>
          </a:prstGeom>
          <a:noFill/>
        </p:spPr>
        <p:txBody>
          <a:bodyPr wrap="square">
            <a:spAutoFit/>
          </a:bodyPr>
          <a:lstStyle/>
          <a:p>
            <a:pPr>
              <a:defRPr sz="1300">
                <a:solidFill>
                  <a:srgbClr val="94A3B8"/>
                </a:solidFill>
              </a:defRPr>
            </a:pPr>
            <a:r>
              <a:t>Transforming LLMs from static text generators into interactive, multi-sensory physical laboratories.</a:t>
            </a:r>
          </a:p>
        </p:txBody>
      </p:sp>
      <p:sp>
        <p:nvSpPr>
          <p:cNvPr id="6" name="Rounded Rectangle 5"/>
          <p:cNvSpPr/>
          <p:nvPr/>
        </p:nvSpPr>
        <p:spPr>
          <a:xfrm>
            <a:off x="731520" y="2103120"/>
            <a:ext cx="3383280" cy="3200400"/>
          </a:xfrm>
          <a:prstGeom prst="roundRect">
            <a:avLst/>
          </a:prstGeom>
          <a:solidFill>
            <a:srgbClr val="0F172A"/>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365760" lIns="320040" rIns="320040"/>
          <a:lstStyle/>
          <a:p>
            <a:pPr algn="ctr">
              <a:defRPr sz="1700" b="1">
                <a:solidFill>
                  <a:srgbClr val="38BDF8"/>
                </a:solidFill>
              </a:defRPr>
            </a:pPr>
            <a:r>
              <a:t>Experiential Over Static</a:t>
            </a:r>
          </a:p>
          <a:p>
            <a:pPr>
              <a:spcBef>
                <a:spcPts val="1400"/>
              </a:spcBef>
              <a:defRPr sz="1300">
                <a:solidFill>
                  <a:srgbClr val="94A3B8"/>
                </a:solidFill>
              </a:defRPr>
            </a:pPr>
            <a:r>
              <a:t>Students learn 3-5x faster by manipulating physical parameters, listening to sound waves, and watching algorithms rather than reading walls of text.</a:t>
            </a:r>
          </a:p>
        </p:txBody>
      </p:sp>
      <p:sp>
        <p:nvSpPr>
          <p:cNvPr id="7" name="Rounded Rectangle 6"/>
          <p:cNvSpPr/>
          <p:nvPr/>
        </p:nvSpPr>
        <p:spPr>
          <a:xfrm>
            <a:off x="4389120" y="2103120"/>
            <a:ext cx="3383280" cy="3200400"/>
          </a:xfrm>
          <a:prstGeom prst="roundRect">
            <a:avLst/>
          </a:prstGeom>
          <a:solidFill>
            <a:srgbClr val="0F172A"/>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tIns="365760" lIns="320040" rIns="320040"/>
          <a:lstStyle/>
          <a:p>
            <a:pPr algn="ctr">
              <a:defRPr sz="1700" b="1">
                <a:solidFill>
                  <a:srgbClr val="34D399"/>
                </a:solidFill>
              </a:defRPr>
            </a:pPr>
            <a:r>
              <a:t>Zero-Hallucination Integrity</a:t>
            </a:r>
          </a:p>
          <a:p>
            <a:pPr>
              <a:spcBef>
                <a:spcPts val="1400"/>
              </a:spcBef>
              <a:defRPr sz="1300">
                <a:solidFill>
                  <a:srgbClr val="94A3B8"/>
                </a:solidFill>
              </a:defRPr>
            </a:pPr>
            <a:r>
              <a:t>Rigid separation of concerns: Generative AI for creative visual modeling and Socratic questioning; deterministic engines for truth and grading.</a:t>
            </a:r>
          </a:p>
        </p:txBody>
      </p:sp>
      <p:sp>
        <p:nvSpPr>
          <p:cNvPr id="8" name="Rounded Rectangle 7"/>
          <p:cNvSpPr/>
          <p:nvPr/>
        </p:nvSpPr>
        <p:spPr>
          <a:xfrm>
            <a:off x="8046720" y="2103120"/>
            <a:ext cx="3383280" cy="3200400"/>
          </a:xfrm>
          <a:prstGeom prst="roundRect">
            <a:avLst/>
          </a:prstGeom>
          <a:solidFill>
            <a:srgbClr val="0F172A"/>
          </a:solidFill>
          <a:ln>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tIns="365760" lIns="320040" rIns="320040"/>
          <a:lstStyle/>
          <a:p>
            <a:pPr algn="ctr">
              <a:defRPr sz="1700" b="1">
                <a:solidFill>
                  <a:srgbClr val="818CF8"/>
                </a:solidFill>
              </a:defRPr>
            </a:pPr>
            <a:r>
              <a:t>Extensible MCP Standard</a:t>
            </a:r>
          </a:p>
          <a:p>
            <a:pPr>
              <a:spcBef>
                <a:spcPts val="1400"/>
              </a:spcBef>
              <a:defRPr sz="1300">
                <a:solidFill>
                  <a:srgbClr val="94A3B8"/>
                </a:solidFill>
              </a:defRPr>
            </a:pPr>
            <a:r>
              <a:t>Built completely on open Model Context Protocol standards. Any MCP-compatible host (ChatGPT, Claude, IDEs) can immediately consume the tools and widgets.</a:t>
            </a:r>
          </a:p>
        </p:txBody>
      </p:sp>
      <p:sp>
        <p:nvSpPr>
          <p:cNvPr id="9" name="TextBox 8"/>
          <p:cNvSpPr txBox="1"/>
          <p:nvPr/>
        </p:nvSpPr>
        <p:spPr>
          <a:xfrm>
            <a:off x="731520" y="5669280"/>
            <a:ext cx="10698480" cy="548640"/>
          </a:xfrm>
          <a:prstGeom prst="rect">
            <a:avLst/>
          </a:prstGeom>
          <a:noFill/>
        </p:spPr>
        <p:txBody>
          <a:bodyPr wrap="none">
            <a:spAutoFit/>
          </a:bodyPr>
          <a:lstStyle/>
          <a:p>
            <a:pPr algn="ctr">
              <a:defRPr sz="1200" b="1">
                <a:solidFill>
                  <a:srgbClr val="38BDF8"/>
                </a:solidFill>
              </a:defRPr>
            </a:pPr>
            <a:r>
              <a:t>OmniLab MCP  •  The WebMCP Challenge  •  Open Source on GitHub: github.com/muhammad-hassaan-y2/webdev-MCP-Server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