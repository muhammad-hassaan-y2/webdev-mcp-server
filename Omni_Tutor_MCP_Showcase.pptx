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WEBMCP CHALLENGE  •  MULTI-MODAL GENERATIVE UI TUTOR</a:t>
            </a:r>
          </a:p>
          <a:p>
            <a:pPr>
              <a:spcBef>
                <a:spcPts val="800"/>
              </a:spcBef>
              <a:defRPr sz="4800" b="1">
                <a:solidFill>
                  <a:srgbClr val="F8FAFC"/>
                </a:solidFill>
              </a:defRPr>
            </a:pPr>
            <a:r>
              <a:t>Omni Tutor MCP</a:t>
            </a:r>
          </a:p>
          <a:p>
            <a:pPr>
              <a:spcAft>
                <a:spcPts val="1200"/>
              </a:spcAft>
              <a:defRPr sz="2200" b="1">
                <a:solidFill>
                  <a:srgbClr val="A855F7"/>
                </a:solidFill>
              </a:defRPr>
            </a:pPr>
            <a:r>
              <a:t>The 3D Interactive STEM &amp; Coding Studio Inside Your Chat</a:t>
            </a:r>
          </a:p>
          <a:p>
            <a:pPr>
              <a:spcAft>
                <a:spcPts val="2800"/>
              </a:spcAft>
              <a:defRPr sz="1400">
                <a:solidFill>
                  <a:srgbClr val="94A3B8"/>
                </a:solidFill>
              </a:defRPr>
            </a:pPr>
            <a:r>
              <a:t>Replacing static text walls with live 60 FPS Cannon-es physics, Web Audio synthesizers, 3D voxel algorithm simulations, and a zero-hallucination deterministic grading engine.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120640"/>
            <a:ext cx="2423160" cy="1097280"/>
          </a:xfrm>
          <a:prstGeom prst="roundRect">
            <a:avLst/>
          </a:prstGeom>
          <a:solidFill>
            <a:srgbClr val="0D14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37160" rIns="13716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13 MCP Tools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Full Protocol Tool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5120640"/>
            <a:ext cx="2423160" cy="1097280"/>
          </a:xfrm>
          <a:prstGeom prst="roundRect">
            <a:avLst/>
          </a:prstGeom>
          <a:solidFill>
            <a:srgbClr val="0D14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37160" rIns="137160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6 Generative Widgets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Zero-Install ext-apps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5120640"/>
            <a:ext cx="2423160" cy="1097280"/>
          </a:xfrm>
          <a:prstGeom prst="roundRect">
            <a:avLst/>
          </a:prstGeom>
          <a:solidFill>
            <a:srgbClr val="0D1424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37160" rIns="137160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60 FPS Physics &amp; Audio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Cannon-es + Web Audio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5120640"/>
            <a:ext cx="2423160" cy="1097280"/>
          </a:xfrm>
          <a:prstGeom prst="roundRect">
            <a:avLst/>
          </a:prstGeom>
          <a:solidFill>
            <a:srgbClr val="0D1424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37160" rIns="137160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100% Deterministic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Zero Grading Hallucinations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THE PARADIGM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Why Chatbots Fail at Teaching: The Text-Wall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Students don't learn physics by reading paragraphs—they learn by touching, breaking, and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0D1424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 rIns="365760"/>
          <a:lstStyle/>
          <a:p>
            <a:pPr algn="ctr">
              <a:defRPr sz="1800" b="1">
                <a:solidFill>
                  <a:srgbClr val="F43F5E"/>
                </a:solidFill>
              </a:defRPr>
            </a:pPr>
            <a:r>
              <a:t>❌ Conventional AI Chatbots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500-Word Markdown Walls: Students glaze over long essays; abstract spatial formulas (gravity, torque, Fourier) remain incomprehensible.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Hallucinated Verification (Sycophancy): LLMs frequently say 'Great job! That works!' on broken code or impossible physics predictions, validating flawed mental models.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Passive Reading vs. Active Building: Zero tactile or auditory interaction. Students are spectators rather than experimenters.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Opaque Black-Box Feedback: When code fails, LLMs dump a generic rewrite instead of guiding the student to discover their own error.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0D14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 rIns="36576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✓ The Omni Tutor MCP Experience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Live Generative UI in Chat: Chat threads instantly launch interactive 3D physics viewports, audio synthesizers, and voxel algorithms.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Deterministic Trust Boundary: The AI NEVER grades its own homework. Real Python subprocesses and closed-form physics engines verify truth.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Multi-Sensory Discovery: Students hear wave harmonics, shoot cannonballs with mass and torque, and watch voxel sorting in real time.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Socratic Scaffolding Engine: Gemini inspects ground-truth unit test diffs to ask targeted guiding questions rather than giving away answers.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MULTI-SENSORY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How Omni Tutor MCP Teaches: 4 Dimensions of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Engaging visual, physical, auditory, and logical cognitive channels simultaneously.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1920240"/>
          </a:xfrm>
          <a:prstGeom prst="roundRect">
            <a:avLst/>
          </a:prstGeom>
          <a:solidFill>
            <a:srgbClr val="0D14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👁️ SEE IT: 3D Astrophysics &amp; Math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Photorealistic Three.js PBR rendering with ACESFilmic tone mapping. Students explore planetary orbits and multivariable calculus waves in real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1920240"/>
          </a:xfrm>
          <a:prstGeom prst="roundRect">
            <a:avLst/>
          </a:prstGeom>
          <a:solidFill>
            <a:srgbClr val="0D1424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💥 TOUCH IT: 3D Cannon-es Physics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Rigid-body mechanics with real mass, velocity, torque, friction, and restitution. Students fire cannonballs and switch gravity from Earth to Moon or Zero-G.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20640" cy="1920240"/>
          </a:xfrm>
          <a:prstGeom prst="roundRect">
            <a:avLst/>
          </a:prstGeom>
          <a:solidFill>
            <a:srgbClr val="0D1424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👂 HEAR IT: Web Audio Synthesizer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Native Web Audio API synthesis. Students play an 8-key piano keyboard, change waveforms, and watch sound wave harmonics vibrate on a 60 FPS oscilloscope.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206240"/>
            <a:ext cx="5120640" cy="1920240"/>
          </a:xfrm>
          <a:prstGeom prst="roundRect">
            <a:avLst/>
          </a:prstGeom>
          <a:solidFill>
            <a:srgbClr val="0D1424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🧠 CODE IT: Deterministic Sandboxes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Isolated Python execution (python -I) and live HTML/CSS web sandbox. Socratic hints guide students to resolve off-by-one errors and algorithmic bottlenecks.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F172A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43F5E"/>
                </a:solidFill>
              </a:defRPr>
            </a:pPr>
            <a:r>
              <a:t>INTERACTIVE SYSTEM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3D Rigid-Body Physics: Domino Cascade &amp; Cannonballs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True 60 Hz physics collision dynamics with embedded in-scene scientific explanation.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Cannon-es + Three.js Engine: Couples real-time rigid body dynamics to Three.js PBR rendering with mirror chrome reflections and acrylic translucency.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Impulse-Momentum Transfer (p = m·v): Heavy steel projectile (m=15 kg, v=40 m/s) delivers sudden momentum into lead domino, triggering an unbalancing torque cascade (τ = r × F).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Dynamic Gravity Switcher: Toggle gravity in real time: 🌍 Earth (-9.82 m/s²), 🌕 Moon (-1.62 m/s²), 🌌 Zero-G (0.0 m/s²), 🪐 Jupiter (-24.79 m/s²).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Interactive Blaster: Students click anywhere in the 3D scene to shoot projectile spheres and destroy towers or domino chains.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Embedded Scientific Card: Directly in the 3D view, students read exact equations for impulse, restitution (e=0.45), and potential-to-kinetic energy conversion.</a:t>
            </a:r>
          </a:p>
        </p:txBody>
      </p:sp>
      <p:pic>
        <p:nvPicPr>
          <p:cNvPr id="7" name="Picture 6" descr="3d_physics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37360"/>
            <a:ext cx="5943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INTERACTIVE SYSTEM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Web Audio Frequency Synthesizer &amp; 60 FPS Oscilloscope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Making sound waves, harmonics, and Fourier series audible and visible in chat.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Browser-Native AudioContext: Synthesizes real acoustic tones directly in the browser with zero external audio assets.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Live Glowing Oscilloscope: Extracts time-domain FFT data via AnalyserNode at 60 FPS, drawing the vibrating waveform as notes are played.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4 Harmonic Waveforms: Switch between Sine ∿ (pure fundamental), Square ⊓ (odd harmonics), Sawtooth ⧘ (all harmonics), and Triangle ⋀.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Playable 8-Key Keyboard: Play notes C4 (262 Hz) through C5 (523 Hz) with resonant low-pass filter cutoff (100–6000 Hz) and pitch knobs.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Fourier Acoustics Integration: Students directly observe how altering waveform geometry changes the auditory timbre and Fourier equation simultaneously.</a:t>
            </a:r>
          </a:p>
        </p:txBody>
      </p:sp>
      <p:pic>
        <p:nvPicPr>
          <p:cNvPr id="7" name="Picture 6" descr="dashboard_a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37360"/>
            <a:ext cx="5943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INTERACTIVE SYSTEM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3D Algorithm Step-by-Step Voxel Visualizer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Transforming abstract Big-O notation and loop invariants into physical spatial animations.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3D Voxel Height Mapping: Array elements are rendered as 3D physical pillars with heights matching numeric values.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State Machine Color Encoding: 🟦 Default Blue  ➔  🟨 Comparing Amber  ➔  🟥 Active Swap Crimson  ➔  🟩 Sorted Emerald Green.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Loop Invariant Visualization: Students visually witness why the emerald green zone grows from right to left as the largest numbers bubble up.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Interactive Playback Dock: Step Forward, Step Backward, Play / Pause, Reset, and 1x / 2x / 4x speed toggles.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Theory &amp; Complexity Panel: Embedded card derives quadratic worst-case comparisons C(n) = n(n-1)/2 ∈ O(n²) vs. linear O(n) early termination.</a:t>
            </a:r>
          </a:p>
        </p:txBody>
      </p:sp>
      <p:pic>
        <p:nvPicPr>
          <p:cNvPr id="7" name="Picture 6" descr="3d_algo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37360"/>
            <a:ext cx="5943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F172A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A855F7"/>
                </a:solidFill>
              </a:defRPr>
            </a:pPr>
            <a:r>
              <a:t>INTERACTIVE SYSTEM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Photorealistic 3D Math Topology &amp; Astrophysics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Exploring multivariable calculus wavefronts and Keplerian orbits in WebGL.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663440"/>
          </a:xfrm>
          <a:prstGeom prst="roundRect">
            <a:avLst/>
          </a:prstGeom>
          <a:solidFill>
            <a:srgbClr val="0D1424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 rIns="22860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📐 3D Topological Math Surface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• Closed-form wave equation z = 2.8·sin(1.1r)·e^(-0.07r)</a:t>
            </a:r>
            <a:br/>
            <a:r>
              <a:t>• Spectral elevation colormap (deep blue troughs to white crests)</a:t>
            </a:r>
            <a:br/>
            <a:r>
              <a:t>• Explains radial symmetry, gradient vectors (∇z), and stationary critical rings.</a:t>
            </a:r>
          </a:p>
        </p:txBody>
      </p:sp>
      <p:pic>
        <p:nvPicPr>
          <p:cNvPr id="7" name="Picture 6" descr="3d_math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63240"/>
            <a:ext cx="4937760" cy="3154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737360"/>
            <a:ext cx="5212080" cy="4663440"/>
          </a:xfrm>
          <a:prstGeom prst="roundRect">
            <a:avLst/>
          </a:prstGeom>
          <a:solidFill>
            <a:srgbClr val="0D1424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 rIns="228600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🪐 Gemini AI 3D Solar System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• Gemini generates structured astrophysical models with real orbital radii.</a:t>
            </a:r>
            <a:br/>
            <a:r>
              <a:t>• Procedural Earth oceans/continents, Rayleigh atmosphere, and Saturn rings.</a:t>
            </a:r>
            <a:br/>
            <a:r>
              <a:t>• In-scene card explains Kepler's 3rd Law (T² ∝ a³) and orbital velocities.</a:t>
            </a:r>
          </a:p>
        </p:txBody>
      </p:sp>
      <p:pic>
        <p:nvPicPr>
          <p:cNvPr id="9" name="Picture 8" descr="3d_solar_system_expla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063240"/>
            <a:ext cx="493776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4D399"/>
                </a:solidFill>
              </a:defRPr>
            </a:pPr>
            <a:r>
              <a:t>PEDAGOGY &amp;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Deterministic Trust Boundary: Why Omni Tutor Never Hallucinates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Strictly separating generative creative proposal from deterministic verification and grading.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2103120"/>
          </a:xfrm>
          <a:prstGeom prst="roundRect">
            <a:avLst/>
          </a:prstGeom>
          <a:solidFill>
            <a:srgbClr val="0D14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Student Action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Student writes Python code, manipulates launch velocity, or tweaks HTML/CSS parameters.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2103120"/>
          </a:xfrm>
          <a:prstGeom prst="roundRect">
            <a:avLst/>
          </a:prstGeom>
          <a:solidFill>
            <a:srgbClr val="0D1424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2. Isolated Subprocess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Python server executes code in an isolated subprocess (python -I) or calculates closed-form math.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68880" cy="2103120"/>
          </a:xfrm>
          <a:prstGeom prst="roundRect">
            <a:avLst/>
          </a:prstGeom>
          <a:solidFill>
            <a:srgbClr val="0D1424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3. Evaluation Gate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Did it pass? If FAIL: Gemini reads real error diff &amp; generates Socratic nudge. If PASS: progress is recorded.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828800"/>
            <a:ext cx="2468880" cy="2103120"/>
          </a:xfrm>
          <a:prstGeom prst="roundRect">
            <a:avLst/>
          </a:prstGeom>
          <a:solidFill>
            <a:srgbClr val="0D1424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4. Verified Mastery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Mastery badges and progress are stored in persistent store (.data/progress.json). AI cannot falsify.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698480" cy="2103120"/>
          </a:xfrm>
          <a:prstGeom prst="roundRect">
            <a:avLst/>
          </a:prstGeom>
          <a:solidFill>
            <a:srgbClr val="0D1424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320040" rIns="32004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💡 Real-World Socratic Feedback Example (Off-By-One Sum Mission)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Student Bug: range(n) returns sum of [0, 1, ..., n-1]. For n=3, it produces 3 instead of 6.</a:t>
            </a:r>
            <a:br/>
            <a:r>
              <a:t>• Deterministic Detection: run_tests detects assertion failure: AssertionError: expected sum_first_n(3) == 6, got 3.</a:t>
            </a:r>
            <a:br/>
            <a:r>
              <a:t>• Gemini Socratic Response: 'Notice that range(n) stops just before n. How might you adjust the arguments inside range() so your loop includes both 1 and n?'</a:t>
            </a:r>
            <a:br/>
            <a:r>
              <a:t>• Integrity Result: Student discovers the fix themselves, runs tests again, and earns verifiable mastery.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FULL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13 Production MCP Tools &amp; 6 Interactive UI Widgets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Tested, verified, and passing 100% of automated test suites.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physics_rigid_body_playground: 3D Cannon-es physics with gravity, dominoes, towers, and cannonballs.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interactive_audio_synth: Web Audio synthesizer with 60 FPS oscilloscope and piano keyboard.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visualize_algorithm_3d: 3D voxel step visualizer for sorting, pathfinding, and loop invariants.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preview_html_css: Live web sandbox with editable code tabs and responsive viewports.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visualize_math_surface: 3D multivariable calculus surface plotter with elevation colormapping.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generate_3d_scene: Gemini AI astrophysics and molecular scene generator.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run_code_scratchpad: Safe isolated Python snippet execution with 5s timeout.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get_student_analytics: Tracks student concept mastery, attempts, and accuracy.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start_mission / run_tests: Interactive code and physics simulation missions with subprocess test grading.</a:t>
            </a:r>
          </a:p>
        </p:txBody>
      </p:sp>
      <p:pic>
        <p:nvPicPr>
          <p:cNvPr id="7" name="Picture 6" descr="test_report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37360"/>
            <a:ext cx="5943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F172A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A855F7"/>
                </a:solidFill>
              </a:defRPr>
            </a:pPr>
            <a: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Omni Tutor MCP: The Future of Spatial AI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Built for The WebMCP Challenge • Bringing Generative UI to Every LLM Client.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3657600"/>
          </a:xfrm>
          <a:prstGeom prst="roundRect">
            <a:avLst/>
          </a:prstGeom>
          <a:solidFill>
            <a:srgbClr val="0D14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🚀 Experiential Learning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Replacing static textbooks and passive chatbots with immersive, hands-on physical simulations. Students retain concepts 3-5x better when they manipulate the physical variables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3657600"/>
          </a:xfrm>
          <a:prstGeom prst="roundRect">
            <a:avLst/>
          </a:prstGeom>
          <a:solidFill>
            <a:srgbClr val="0D1424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🛡️ Truth &amp; Integrity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By strictly separating AI creative generation from deterministic unit test grading, Omni Tutor MCP eliminates hallucinations and guarantees that every student certificate is mathematically earned.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3657600"/>
          </a:xfrm>
          <a:prstGeom prst="roundRect">
            <a:avLst/>
          </a:prstGeom>
          <a:solidFill>
            <a:srgbClr val="0D14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🌐 Open MCP Standard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Built 100% on the Model Context Protocol and ext-apps specification. Runs out of the box in Claude, ChatGPT, Cursor, and any MCP-enabled host with zero client-side installation.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Omni Tutor MCP  •  The WebMCP Challenge  •  GitHub: github.com/muhammad-hassaan-y2/webdev-MCP-Server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